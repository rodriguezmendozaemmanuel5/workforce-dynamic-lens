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663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3628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t>INFORME EJECUTIVO DE CONSULTORÍA &amp; PEOPLE ANALYTICS</a:t>
            </a:r>
          </a:p>
          <a:p>
            <a:pPr>
              <a:spcAft>
                <a:spcPts val="1000"/>
              </a:spcAft>
              <a:defRPr sz="4000" b="1">
                <a:solidFill>
                  <a:srgbClr val="0A2540"/>
                </a:solidFill>
                <a:latin typeface="Segoe UI"/>
              </a:defRPr>
            </a:pPr>
            <a:r>
              <a:t>Workforce Dynamic Lens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Conectando la Gestión del Capital Humano con el Estado de Resultados (P&amp;L)</a:t>
            </a:r>
            <a:br/>
            <a:r>
              <a:t>Diagnóstico de Rotación Crítica en I+D, Ausentismo y Mitigación de $6.44M USD en Riesgo Operativo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931920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404164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BE123C"/>
                </a:solidFill>
                <a:latin typeface="Segoe UI"/>
              </a:defRPr>
            </a:pPr>
            <a:r>
              <a:t>$6.44M USD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Exposición Total P&amp;L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31336" y="3931920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8496" y="404164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D4ED8"/>
                </a:solidFill>
                <a:latin typeface="Segoe UI"/>
              </a:defRPr>
            </a:pPr>
            <a:r>
              <a:t>4,500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Colaboradores Analizados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5392" y="3931920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404164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Segoe UI"/>
              </a:defRPr>
            </a:pPr>
            <a:r>
              <a:t>535%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Retorno de Inversión (ROI)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9448" y="3931920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6608" y="404164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2.8 Meses</a:t>
            </a:r>
          </a:p>
          <a:p>
            <a:pPr>
              <a:defRPr sz="950" b="1">
                <a:solidFill>
                  <a:srgbClr val="64748B"/>
                </a:solidFill>
                <a:latin typeface="Segoe UI"/>
              </a:defRPr>
            </a:pPr>
            <a:r>
              <a:t>Punto de Equilibrio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Autor: Emmanuel Rodríguez Mendoza  |  HR Tech &amp; People Analytics Specialist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Organización: MedTech Global Solutions (México, Colombia, España, Brasil, Alemania)  •  Release Oficial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Resumen Ejecutivo: Impacto Financiero y Operativo en P&amp;L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14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218541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BE123C"/>
                </a:solidFill>
                <a:latin typeface="Segoe UI"/>
              </a:defRPr>
            </a:pPr>
            <a:r>
              <a:t>$6.44M USD</a:t>
            </a:r>
          </a:p>
          <a:p>
            <a:pPr>
              <a:spcAft>
                <a:spcPts val="600"/>
              </a:spcAft>
              <a:defRPr sz="1150" b="1">
                <a:solidFill>
                  <a:srgbClr val="0A2540"/>
                </a:solidFill>
                <a:latin typeface="Segoe UI"/>
              </a:defRPr>
            </a:pPr>
            <a:r>
              <a:t>Exposición Total en P&amp;L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Costos de vacancia en I+D, multas contractuales de SLA y rotación voluntaria.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1463040"/>
            <a:ext cx="2514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27632"/>
            <a:ext cx="218541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D4ED8"/>
                </a:solidFill>
                <a:latin typeface="Segoe UI"/>
              </a:defRPr>
            </a:pPr>
            <a:r>
              <a:t>4,500</a:t>
            </a:r>
          </a:p>
          <a:p>
            <a:pPr>
              <a:spcAft>
                <a:spcPts val="600"/>
              </a:spcAft>
              <a:defRPr sz="1150" b="1">
                <a:solidFill>
                  <a:srgbClr val="0A2540"/>
                </a:solidFill>
                <a:latin typeface="Segoe UI"/>
              </a:defRPr>
            </a:pPr>
            <a:r>
              <a:t>Población Global Analizada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3,300 Activos / 1,200 Bajas históricas en 5 países clave (2020-2025).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463040"/>
            <a:ext cx="2514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627632"/>
            <a:ext cx="218541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59669"/>
                </a:solidFill>
                <a:latin typeface="Segoe UI"/>
              </a:defRPr>
            </a:pPr>
            <a:r>
              <a:t>535%</a:t>
            </a:r>
          </a:p>
          <a:p>
            <a:pPr>
              <a:spcAft>
                <a:spcPts val="600"/>
              </a:spcAft>
              <a:defRPr sz="1150" b="1">
                <a:solidFill>
                  <a:srgbClr val="0A2540"/>
                </a:solidFill>
                <a:latin typeface="Segoe UI"/>
              </a:defRPr>
            </a:pPr>
            <a:r>
              <a:t>Retorno de Inversión (ROI)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$455,000 USD de beneficio neto en Año 1 frente a $85,000 USD de inversión.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463040"/>
            <a:ext cx="2514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27632"/>
            <a:ext cx="218541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A2540"/>
                </a:solidFill>
                <a:latin typeface="Segoe UI"/>
              </a:defRPr>
            </a:pPr>
            <a:r>
              <a:t>2.8 Meses</a:t>
            </a:r>
          </a:p>
          <a:p>
            <a:pPr>
              <a:spcAft>
                <a:spcPts val="600"/>
              </a:spcAft>
              <a:defRPr sz="1150" b="1">
                <a:solidFill>
                  <a:srgbClr val="0A2540"/>
                </a:solidFill>
                <a:latin typeface="Segoe UI"/>
              </a:defRPr>
            </a:pPr>
            <a:r>
              <a:t>Periodo de Amortización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Punto de equilibrio financiero post-implementación del plan de intervención.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10728655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60"/>
            <a:ext cx="1018001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ALCANCE DE LA CONSULTORÍA ANALÍTICA &amp; ESTRATEGIA DE TALENTO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 Presencia Multinacional: </a:t>
            </a:r>
            <a:r>
              <a:rPr sz="1050">
                <a:solidFill>
                  <a:srgbClr val="1E293B"/>
                </a:solidFill>
                <a:latin typeface="Segoe UI"/>
              </a:rPr>
              <a:t>Operaciones en México (34%), Colombia (20%), España (16%), Brasil (15%) y Alemania (14%).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 Desconexión Tradicional de RR. HH.: </a:t>
            </a:r>
            <a:r>
              <a:rPr sz="1050">
                <a:solidFill>
                  <a:srgbClr val="1E293B"/>
                </a:solidFill>
                <a:latin typeface="Segoe UI"/>
              </a:rPr>
              <a:t>Históricamente, Recursos Humanos reportaba métricas descriptivas sin cuantificar el impacto de la rotación y el ausentismo en los estados financieros.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 Solución Integrada: </a:t>
            </a:r>
            <a:r>
              <a:rPr sz="1050">
                <a:solidFill>
                  <a:srgbClr val="1E293B"/>
                </a:solidFill>
                <a:latin typeface="Segoe UI"/>
              </a:rPr>
              <a:t>Unificación de datos relacionales en PostgreSQL (Kimball Star Schema), análisis en SQL y visualización ejecutiva en Power BI con simulador dinámico What-If.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 Decisiones Basadas en Evidencia: </a:t>
            </a:r>
            <a:r>
              <a:rPr sz="1050">
                <a:solidFill>
                  <a:srgbClr val="1E293B"/>
                </a:solidFill>
                <a:latin typeface="Segoe UI"/>
              </a:rPr>
              <a:t>Sustitución de suposiciones intuitivas por modelos cuantitativos para priorizar la retención de perfiles críticos.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Diagnóstico de Cuellos de Botella: Fuga de Talento y Ausentismo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23036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477316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BE123C"/>
                </a:solidFill>
                <a:latin typeface="Segoe UI"/>
              </a:defRPr>
            </a:pPr>
            <a:r>
              <a:t>FOCO 1: FUGA DE TALENTO CLAVE EN I+D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Síntoma: </a:t>
            </a:r>
            <a:r>
              <a:rPr sz="1000">
                <a:solidFill>
                  <a:srgbClr val="1E293B"/>
                </a:solidFill>
                <a:latin typeface="Segoe UI"/>
              </a:rPr>
              <a:t>Renuncia imprevista de ingenieros biomédicos y desarrolladores Senior (Performance Rating &gt;= 4.0).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Causa Raíz Revelada: </a:t>
            </a:r>
            <a:r>
              <a:rPr sz="1000">
                <a:solidFill>
                  <a:srgbClr val="1E293B"/>
                </a:solidFill>
                <a:latin typeface="Segoe UI"/>
              </a:rPr>
              <a:t>Desalineación salarial severa frente al mercado (Compa-Ratio &lt; 0.85). Las entrevistas de salida registraban 'Desarrollo Profesional', enmascarando una brecha de competitividad salarial.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Impacto en Negocio: </a:t>
            </a:r>
            <a:r>
              <a:rPr sz="1000">
                <a:solidFill>
                  <a:srgbClr val="1E293B"/>
                </a:solidFill>
                <a:latin typeface="Segoe UI"/>
              </a:rPr>
              <a:t>Períodos de vacante de 60 a 90 días por alta especialización técnica requerida.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Consecuencia en P&amp;L: </a:t>
            </a:r>
            <a:r>
              <a:rPr sz="1000">
                <a:solidFill>
                  <a:srgbClr val="1E293B"/>
                </a:solidFill>
                <a:latin typeface="Segoe UI"/>
              </a:rPr>
              <a:t>Caída del 12% en velocidad de lanzamiento de software clínico y sobrecosto por vacancia ponderada de $1.2M USD.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9807" y="1463040"/>
            <a:ext cx="5230368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8407" y="1691640"/>
            <a:ext cx="477316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BE123C"/>
                </a:solidFill>
                <a:latin typeface="Segoe UI"/>
              </a:defRPr>
            </a:pPr>
            <a:r>
              <a:t>FOCO 2: AUSENTISMO CRÓNICO &amp; MULTAS DE SLA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Síntoma: </a:t>
            </a:r>
            <a:r>
              <a:rPr sz="1000">
                <a:solidFill>
                  <a:srgbClr val="1E293B"/>
                </a:solidFill>
                <a:latin typeface="Segoe UI"/>
              </a:rPr>
              <a:t>Micro-ausencias imprevistas frecuentes de 1 a 2 días adyacentes a fines de semana y descansos en soporte clínico 24/7.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Causa Raíz Revelada: </a:t>
            </a:r>
            <a:r>
              <a:rPr sz="1000">
                <a:solidFill>
                  <a:srgbClr val="1E293B"/>
                </a:solidFill>
                <a:latin typeface="Segoe UI"/>
              </a:rPr>
              <a:t>Correlación directa con acumulación de más de 30 horas extra mensuales, provocando síndrome de burnout operativo.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Factor de Bradford: </a:t>
            </a:r>
            <a:r>
              <a:rPr sz="1000">
                <a:solidFill>
                  <a:srgbClr val="1E293B"/>
                </a:solidFill>
                <a:latin typeface="Segoe UI"/>
              </a:rPr>
              <a:t>Promedio de 245 puntos en soporte técnico hospitalario (zona de severidad alta / riesgo disciplinario).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Consecuencia en P&amp;L: </a:t>
            </a:r>
            <a:r>
              <a:rPr sz="1000">
                <a:solidFill>
                  <a:srgbClr val="1E293B"/>
                </a:solidFill>
                <a:latin typeface="Segoe UI"/>
              </a:rPr>
              <a:t>40 penalizaciones contractuales por incumplimiento de SLAs hospitalarios sumando $1.3M USD en multas directas.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Arquitectura Técnica &amp; Modelo Dimensional en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1. Almacén Relacional (Kimball Star Schema)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Motor:</a:t>
            </a:r>
            <a:r>
              <a:rPr sz="950">
                <a:solidFill>
                  <a:srgbClr val="1E293B"/>
                </a:solidFill>
                <a:latin typeface="Segoe UI"/>
              </a:rPr>
              <a:t> PostgreSQL 16+ con esquema people_analytics.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Dimensiones:</a:t>
            </a:r>
            <a:r>
              <a:rPr sz="950">
                <a:solidFill>
                  <a:srgbClr val="1E293B"/>
                </a:solidFill>
                <a:latin typeface="Segoe UI"/>
              </a:rPr>
              <a:t> dim_employees (SCD Tipo 2), dim_departments, dim_positions, dim_salary_benchmarks, dim_date.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Tablas de Hechos:</a:t>
            </a:r>
            <a:r>
              <a:rPr sz="950">
                <a:solidFill>
                  <a:srgbClr val="1E293B"/>
                </a:solidFill>
                <a:latin typeface="Segoe UI"/>
              </a:rPr>
              <a:t> fact_attendance_logs (1.51M filas), fact_terminations (1,200 bajas), fact_sla_events (40 multas).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Integridad:</a:t>
            </a:r>
            <a:r>
              <a:rPr sz="950">
                <a:solidFill>
                  <a:srgbClr val="1E293B"/>
                </a:solidFill>
                <a:latin typeface="Segoe UI"/>
              </a:rPr>
              <a:t> 0 registros huérfanos y 100% de consistencia relacional certificada en SQL.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6916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2. Consultas Analíticas &amp; Vistas SQL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Vistas Maestras:</a:t>
            </a:r>
            <a:r>
              <a:rPr sz="950">
                <a:solidFill>
                  <a:srgbClr val="1E293B"/>
                </a:solidFill>
                <a:latin typeface="Segoe UI"/>
              </a:rPr>
              <a:t> sql/analytics/13_views.sql con funciones de ventana (ROW_NUMBER, PARTITION BY).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Cálculo Bradford Móvil:</a:t>
            </a:r>
            <a:r>
              <a:rPr sz="950">
                <a:solidFill>
                  <a:srgbClr val="1E293B"/>
                </a:solidFill>
                <a:latin typeface="Segoe UI"/>
              </a:rPr>
              <a:t> Ventana móvil de 12 meses (S^2 x D) para aislar micro-ausencias.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Reconciliación Histórica:</a:t>
            </a:r>
            <a:r>
              <a:rPr sz="950">
                <a:solidFill>
                  <a:srgbClr val="1E293B"/>
                </a:solidFill>
                <a:latin typeface="Segoe UI"/>
              </a:rPr>
              <a:t> Filtrado estricto is_current_row = TRUE para eliminar duplicaciones.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Scoring Multifactorial:</a:t>
            </a:r>
            <a:r>
              <a:rPr sz="950">
                <a:solidFill>
                  <a:srgbClr val="1E293B"/>
                </a:solidFill>
                <a:latin typeface="Segoe UI"/>
              </a:rPr>
              <a:t> Compa-Ratio + Horas Extra + Bradford.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916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3. Capa Semántica &amp; Business Intelligence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Power BI Desktop conectado directamente al esquema estrella.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Medidas DAX Dinámicas organizadas en carpetas de exhibición.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Simulador Financiero What-If con parámetros desconectados.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t>• Visual Storytelling ejecutivo diseñado para toma de decisiones directivas.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Dashboard 1: Executive HR Overview &amp; Demographics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01_h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79473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046720" y="1463040"/>
            <a:ext cx="3413455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476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HALLAZGOS DEMOGRÁFICOS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Headcount Global: </a:t>
            </a:r>
            <a:r>
              <a:rPr sz="950">
                <a:solidFill>
                  <a:srgbClr val="1E293B"/>
                </a:solidFill>
                <a:latin typeface="Segoe UI"/>
              </a:rPr>
              <a:t>3,300 colaboradores activos distribuidos en México (34%), Colombia (20%), España (16%), Brasil (15%) y Alemania (14%).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Distribución por Género: </a:t>
            </a:r>
            <a:r>
              <a:rPr sz="950">
                <a:solidFill>
                  <a:srgbClr val="1E293B"/>
                </a:solidFill>
                <a:latin typeface="Segoe UI"/>
              </a:rPr>
              <a:t>Equidad general balanceada (52% Mujeres / 48% Hombres), con brecha de representación técnica en I+D.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Rotación Voluntaria: </a:t>
            </a:r>
            <a:r>
              <a:rPr sz="950">
                <a:solidFill>
                  <a:srgbClr val="1E293B"/>
                </a:solidFill>
                <a:latin typeface="Segoe UI"/>
              </a:rPr>
              <a:t>Tasa anualizada del 14.8%, concentrada atípicamente en el primer y segundo año de antigüedad laboral.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Masa Salarial: </a:t>
            </a:r>
            <a:r>
              <a:rPr sz="950">
                <a:solidFill>
                  <a:srgbClr val="1E293B"/>
                </a:solidFill>
                <a:latin typeface="Segoe UI"/>
              </a:rPr>
              <a:t>Monitoreo continuo de nómina cargada (*Fully Loaded Payroll*) por división y centro de costos.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Dashboard 2: Absenteeism Diagnostic &amp; SLA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02_absenteeism_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78358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046720" y="1463040"/>
            <a:ext cx="3413455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476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DIAGNÓSTICO DE AUSENTISMO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Factor de Bradford: </a:t>
            </a:r>
            <a:r>
              <a:rPr sz="950">
                <a:solidFill>
                  <a:srgbClr val="1E293B"/>
                </a:solidFill>
                <a:latin typeface="Segoe UI"/>
              </a:rPr>
              <a:t>Fórmula B = S^2 x D implementada dinámicamente en DAX para aislar micro-ausencias disruptivas de incapacidades médicas prolongadas.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Sobrecarga Horaria: </a:t>
            </a:r>
            <a:r>
              <a:rPr sz="950">
                <a:solidFill>
                  <a:srgbClr val="1E293B"/>
                </a:solidFill>
                <a:latin typeface="Segoe UI"/>
              </a:rPr>
              <a:t>Colaboradores con &gt;30h extra mensuales presentan una probabilidad 3.4 veces mayor de ausentismo intermitente.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Penalizaciones Hospitalarias: </a:t>
            </a:r>
            <a:r>
              <a:rPr sz="950">
                <a:solidFill>
                  <a:srgbClr val="1E293B"/>
                </a:solidFill>
                <a:latin typeface="Segoe UI"/>
              </a:rPr>
              <a:t>40 caídas de SLA por $1.3M USD directamente atribuidas al déficit temporal de cobertura por ausencias no planificadas.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Acción Operativa: </a:t>
            </a:r>
            <a:r>
              <a:rPr sz="950">
                <a:solidFill>
                  <a:srgbClr val="1E293B"/>
                </a:solidFill>
                <a:latin typeface="Segoe UI"/>
              </a:rPr>
              <a:t>Establecimiento de alertas tempranas en turnos críticos al superar los 150 puntos de Bradford.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Dashboard 3: Workforce Risk &amp; Retention Action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03_workforce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77243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046720" y="1463040"/>
            <a:ext cx="3413455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476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RIESGO &amp; SIMULADOR WHAT-IF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Matriz de Desempeño vs. Fuga: </a:t>
            </a:r>
            <a:r>
              <a:rPr sz="950">
                <a:solidFill>
                  <a:srgbClr val="1E293B"/>
                </a:solidFill>
                <a:latin typeface="Segoe UI"/>
              </a:rPr>
              <a:t>Identificación precisa de 315 Top Performers en Zona Crítica de salida involuntaria.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Diagnóstico de Compa-Ratio: </a:t>
            </a:r>
            <a:r>
              <a:rPr sz="950">
                <a:solidFill>
                  <a:srgbClr val="1E293B"/>
                </a:solidFill>
                <a:latin typeface="Segoe UI"/>
              </a:rPr>
              <a:t>Detección de inequidad interna en I+D donde el personal clave percibe salarios bajo el 85% del punto medio del mercado.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Simulador Financiero What-If: </a:t>
            </a:r>
            <a:r>
              <a:rPr sz="950">
                <a:solidFill>
                  <a:srgbClr val="1E293B"/>
                </a:solidFill>
                <a:latin typeface="Segoe UI"/>
              </a:rPr>
              <a:t>Cálculo en tiempo real del impacto de reducir rotación en 5%, 10% o 15% sobre el estado de resultados.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A2540"/>
                </a:solidFill>
                <a:latin typeface="Segoe UI"/>
              </a:rPr>
              <a:t>• Presupuesto de Retención: </a:t>
            </a:r>
            <a:r>
              <a:rPr sz="950">
                <a:solidFill>
                  <a:srgbClr val="1E293B"/>
                </a:solidFill>
                <a:latin typeface="Segoe UI"/>
              </a:rPr>
              <a:t>Modelado del ROI de nivelación salarial frente a costo de reemplazo y vacancia.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MEDTECH GLOBAL SOLUTIONS  |  PEOPLE ANALYTICS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Plan Estratégico en 3 Pilares &amp; Retorno de Inversión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63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E123C"/>
                </a:solidFill>
                <a:latin typeface="Segoe UI"/>
              </a:defRPr>
            </a:pPr>
            <a:r>
              <a:t>Pilar 1: Nivelación Salarial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Ajuste de Compa-Ratio a 1.0 para 315 Top Performers en riesgo.</a:t>
            </a:r>
          </a:p>
          <a:p>
            <a:pPr>
              <a:spcAft>
                <a:spcPts val="600"/>
              </a:spcAft>
              <a:defRPr sz="1050" b="1">
                <a:solidFill>
                  <a:srgbClr val="0A2540"/>
                </a:solidFill>
                <a:latin typeface="Segoe UI"/>
              </a:defRPr>
            </a:pPr>
            <a:r>
              <a:t>Inversión: $180,000 USD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Pérdidas Evitadas: $1.2M USD por reemplazo y costo de vacancia en software clínico.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463040"/>
            <a:ext cx="34290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645920"/>
            <a:ext cx="3063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D4ED8"/>
                </a:solidFill>
                <a:latin typeface="Segoe UI"/>
              </a:defRPr>
            </a:pPr>
            <a:r>
              <a:t>Pilar 2: Control de Fatiga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Tope operativo de 20 horas extra/mes en Soporte Clínico.</a:t>
            </a:r>
          </a:p>
          <a:p>
            <a:pPr>
              <a:spcAft>
                <a:spcPts val="600"/>
              </a:spcAft>
              <a:defRPr sz="1050" b="1">
                <a:solidFill>
                  <a:srgbClr val="0A2540"/>
                </a:solidFill>
                <a:latin typeface="Segoe UI"/>
              </a:defRPr>
            </a:pPr>
            <a:r>
              <a:t>Inversión: $45,000 USD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Impacto: Reducción del 35% en micro-ausentismo y erradicación de multas por SLA ($1.3M).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463040"/>
            <a:ext cx="34290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45920"/>
            <a:ext cx="3063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Pilar 3: Alertas para HRBPs</a:t>
            </a:r>
          </a:p>
          <a:p>
            <a:pPr>
              <a:spcAft>
                <a:spcPts val="10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Protocolos de 'Stay Interviews' ante alertas tempranas de riesgo.</a:t>
            </a:r>
          </a:p>
          <a:p>
            <a:pPr>
              <a:spcAft>
                <a:spcPts val="600"/>
              </a:spcAft>
              <a:defRPr sz="1050" b="1">
                <a:solidFill>
                  <a:srgbClr val="0A2540"/>
                </a:solidFill>
                <a:latin typeface="Segoe UI"/>
              </a:defRPr>
            </a:pPr>
            <a:r>
              <a:t>Inversión: $25,000 USD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Impacto: Mitigación sostenida del 15% en la tasa de rotación voluntaria global.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728655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1018001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BALANCE FINANCIERO DEL CASO DE NEGOCIO (AÑO 1)</a:t>
            </a:r>
          </a:p>
          <a:p>
            <a:pPr>
              <a:defRPr sz="1150" b="1">
                <a:solidFill>
                  <a:srgbClr val="0A2540"/>
                </a:solidFill>
                <a:latin typeface="Segoe UI"/>
              </a:defRPr>
            </a:pPr>
            <a:r>
              <a:t>Inversión Total en Solución: $85,000 USD   |   Ahorro Bruto Proyectado: $540,000 USD   |   Beneficio Neto: $455,000 USD</a:t>
            </a:r>
            <a:br/>
            <a:r>
              <a:t>ROI Oficial: 535%   |   Periodo de Recuperación: 2.8 meses post-lanzamiento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7315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 Dynamic Lens v1.0.0  •  MedTech Global Solutions  •  Executive Analytics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Segoe UI"/>
              </a:defRPr>
            </a:pPr>
            <a:r>
              <a:t>WORKFORCE DYNAMIC LENS | AUTOR DEL PROYECTO</a:t>
            </a:r>
          </a:p>
          <a:p>
            <a:pPr>
              <a:defRPr sz="2000" b="1">
                <a:solidFill>
                  <a:srgbClr val="0A2540"/>
                </a:solidFill>
                <a:latin typeface="Segoe UI"/>
              </a:defRPr>
            </a:pPr>
            <a:r>
              <a:t>Perfil Profesional &amp; Datos de Contacto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999713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D4ED8"/>
                </a:solidFill>
                <a:latin typeface="Segoe UI"/>
              </a:defRPr>
            </a:pPr>
            <a:r>
              <a:t>ESPECIALIDAD PROFESIONAL</a:t>
            </a:r>
          </a:p>
          <a:p>
            <a:pPr>
              <a:spcAft>
                <a:spcPts val="400"/>
              </a:spcAft>
              <a:defRPr sz="2800" b="1">
                <a:solidFill>
                  <a:srgbClr val="0A2540"/>
                </a:solidFill>
                <a:latin typeface="Segoe UI"/>
              </a:defRPr>
            </a:pPr>
            <a:r>
              <a:t>Emmanuel Rodríguez Mendoza</a:t>
            </a:r>
          </a:p>
          <a:p>
            <a:pPr>
              <a:spcAft>
                <a:spcPts val="1400"/>
              </a:spcAft>
              <a:defRPr sz="1300" b="1">
                <a:solidFill>
                  <a:srgbClr val="1D4ED8"/>
                </a:solidFill>
                <a:latin typeface="Segoe UI"/>
              </a:defRPr>
            </a:pPr>
            <a:r>
              <a:t>HR Tech | People Analytics | BI &amp; SQL Analytics | Software Development</a:t>
            </a:r>
            <a:br/>
            <a:r>
              <a:t>Transforming Talent Management with Data, SQL &amp; Evidence-Based Decision Making</a:t>
            </a:r>
          </a:p>
          <a:p>
            <a:pPr>
              <a:spcAft>
                <a:spcPts val="18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Psicólogo Organizacional y Magíster (c) en Dirección de Recursos Humanos (UDIMA, España) con formación en Análisis y Desarrollo de Software.</a:t>
            </a:r>
            <a:br/>
            <a:r>
              <a:t>Especializado en modelado relacional dimensional (Kimball Star Schema en PostgreSQL), análisis cuantitativo en SQL y visualización ejecutiva con Power BI (DAX).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LinkedIn: </a:t>
            </a:r>
            <a:r>
              <a:rPr sz="1050">
                <a:solidFill>
                  <a:srgbClr val="1D4ED8"/>
                </a:solidFill>
                <a:latin typeface="Segoe UI"/>
              </a:rPr>
              <a:t>https://www.linkedin.com/in/emmanuel-rodríguez-mendoza-aa638a220/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GitHub: </a:t>
            </a:r>
            <a:r>
              <a:rPr sz="1050">
                <a:solidFill>
                  <a:srgbClr val="1D4ED8"/>
                </a:solidFill>
                <a:latin typeface="Segoe UI"/>
              </a:rPr>
              <a:t>https://github.com/rodriguezmendozaemmanuel5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Email: </a:t>
            </a:r>
            <a:r>
              <a:rPr sz="1050">
                <a:solidFill>
                  <a:srgbClr val="1D4ED8"/>
                </a:solidFill>
                <a:latin typeface="Segoe UI"/>
              </a:rPr>
              <a:t>mendozarm2308@gmail.com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A2540"/>
                </a:solidFill>
                <a:latin typeface="Segoe UI"/>
              </a:rPr>
              <a:t>• Repositorio: </a:t>
            </a:r>
            <a:r>
              <a:rPr sz="1050">
                <a:solidFill>
                  <a:srgbClr val="1D4ED8"/>
                </a:solidFill>
                <a:latin typeface="Segoe UI"/>
              </a:rPr>
              <a:t>https://github.com/rodriguezmendozaemmanuel5/workforce-dynamic-lens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