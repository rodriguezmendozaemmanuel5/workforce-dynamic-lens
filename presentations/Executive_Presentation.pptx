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645920"/>
            <a:ext cx="109728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2C811"/>
                </a:solidFill>
                <a:latin typeface="Segoe UI"/>
              </a:defRPr>
            </a:pPr>
            <a:r>
              <a:t>PEOPLE ANALYTICS &amp; HR FINANCIAL OPTIMIZATION SUITE</a:t>
            </a: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  <a:latin typeface="Segoe UI"/>
              </a:defRPr>
            </a:pPr>
            <a:r>
              <a:t>Workforce Dynamic Lens</a:t>
            </a:r>
          </a:p>
          <a:p>
            <a:pPr>
              <a:spcAft>
                <a:spcPts val="2400"/>
              </a:spcAft>
              <a:defRPr sz="1600">
                <a:solidFill>
                  <a:srgbClr val="CBD5E1"/>
                </a:solidFill>
                <a:latin typeface="Segoe UI"/>
              </a:defRPr>
            </a:pPr>
            <a:r>
              <a:t>Conectando la Gestión de Talento con el P&amp;L: Diagnóstico de Rotación Voluntaria,</a:t>
            </a:r>
            <a:br/>
            <a:r>
              <a:t>Ausentismo Crónico y Mitigación de $6.44M USD en Riesgo Operativo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33272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Autor: Emmanuel Rodríguez Mendoza  |  HR Tech &amp; People Analytics Specialist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Caso de Estudio: MedTech Global Solutions (4,500 Colaboradores  |  5 Países)  •  Release Oficial v1.0.0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WORKFORCE DYNAMIC LENS | EXECUTIVE BRIEFING</a:t>
            </a:r>
          </a:p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Resumen Ejecutivo: Impacto Financiero y Operativo en P&amp;L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5146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22402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600" b="1">
                <a:solidFill>
                  <a:srgbClr val="E11D48"/>
                </a:solidFill>
                <a:latin typeface="Segoe UI"/>
              </a:defRPr>
            </a:pPr>
            <a:r>
              <a:t>$6.44M USD</a:t>
            </a:r>
          </a:p>
          <a:p>
            <a:pPr>
              <a:spcAft>
                <a:spcPts val="600"/>
              </a:spcAft>
              <a:defRPr sz="1200" b="1">
                <a:solidFill>
                  <a:srgbClr val="1E293B"/>
                </a:solidFill>
                <a:latin typeface="Segoe UI"/>
              </a:defRPr>
            </a:pPr>
            <a:r>
              <a:t>Exposición Total en P&amp;L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Costos de vacancia en I+D, multas de SLA y rotación voluntaria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463040"/>
            <a:ext cx="25146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93592" y="1600200"/>
            <a:ext cx="22402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600" b="1">
                <a:solidFill>
                  <a:srgbClr val="0284C7"/>
                </a:solidFill>
                <a:latin typeface="Segoe UI"/>
              </a:defRPr>
            </a:pPr>
            <a:r>
              <a:t>4,500</a:t>
            </a:r>
          </a:p>
          <a:p>
            <a:pPr>
              <a:spcAft>
                <a:spcPts val="600"/>
              </a:spcAft>
              <a:defRPr sz="1200" b="1">
                <a:solidFill>
                  <a:srgbClr val="1E293B"/>
                </a:solidFill>
                <a:latin typeface="Segoe UI"/>
              </a:defRPr>
            </a:pPr>
            <a:r>
              <a:t>Población Global Analizada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3,300 Activos / 1,200 Bajas históricas en 5 países clave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463040"/>
            <a:ext cx="25146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504" y="1600200"/>
            <a:ext cx="22402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600" b="1">
                <a:solidFill>
                  <a:srgbClr val="10B981"/>
                </a:solidFill>
                <a:latin typeface="Segoe UI"/>
              </a:defRPr>
            </a:pPr>
            <a:r>
              <a:t>535%</a:t>
            </a:r>
          </a:p>
          <a:p>
            <a:pPr>
              <a:spcAft>
                <a:spcPts val="600"/>
              </a:spcAft>
              <a:defRPr sz="1200" b="1">
                <a:solidFill>
                  <a:srgbClr val="1E293B"/>
                </a:solidFill>
                <a:latin typeface="Segoe UI"/>
              </a:defRPr>
            </a:pPr>
            <a:r>
              <a:t>Retorno de Inversión (ROI)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$455,000 USD de beneficio neto en Año 1 con inversión de $85k USD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463040"/>
            <a:ext cx="25146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43416" y="1600200"/>
            <a:ext cx="224028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600" b="1">
                <a:solidFill>
                  <a:srgbClr val="1E293B"/>
                </a:solidFill>
                <a:latin typeface="Segoe UI"/>
              </a:defRPr>
            </a:pPr>
            <a:r>
              <a:t>2.8 Meses</a:t>
            </a:r>
          </a:p>
          <a:p>
            <a:pPr>
              <a:spcAft>
                <a:spcPts val="600"/>
              </a:spcAft>
              <a:defRPr sz="1200" b="1">
                <a:solidFill>
                  <a:srgbClr val="1E293B"/>
                </a:solidFill>
                <a:latin typeface="Segoe UI"/>
              </a:defRPr>
            </a:pPr>
            <a:r>
              <a:t>Periodo de Amortización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Punto de equilibrio financiero post-implementación del plan de retención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39"/>
            <a:ext cx="1072591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931920"/>
            <a:ext cx="1014984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284C7"/>
                </a:solidFill>
                <a:latin typeface="Segoe UI"/>
              </a:defRPr>
            </a:pPr>
            <a:r>
              <a:t>ALCANCE DE LA CONSULTORÍA ANALÍTICA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E293B"/>
                </a:solidFill>
                <a:latin typeface="Segoe UI"/>
              </a:rPr>
              <a:t>•  Presencia Multinacional: </a:t>
            </a:r>
            <a:r>
              <a:rPr sz="1100">
                <a:solidFill>
                  <a:srgbClr val="64748B"/>
                </a:solidFill>
                <a:latin typeface="Segoe UI"/>
              </a:rPr>
              <a:t>Operaciones en México (34%), Colombia (20%), España (16%), Brasil (15%) y Alemania (14%).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E293B"/>
                </a:solidFill>
                <a:latin typeface="Segoe UI"/>
              </a:rPr>
              <a:t>•  Desconexión Tradicional de RR. HH.: </a:t>
            </a:r>
            <a:r>
              <a:rPr sz="1100">
                <a:solidFill>
                  <a:srgbClr val="64748B"/>
                </a:solidFill>
                <a:latin typeface="Segoe UI"/>
              </a:rPr>
              <a:t>Históricamente, Recursos Humanos reportaba métricas descriptivas sin cuantificar el impacto de la rotación y el ausentismo en los estados financieros.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E293B"/>
                </a:solidFill>
                <a:latin typeface="Segoe UI"/>
              </a:rPr>
              <a:t>•  Solución Integrada: </a:t>
            </a:r>
            <a:r>
              <a:rPr sz="1100">
                <a:solidFill>
                  <a:srgbClr val="64748B"/>
                </a:solidFill>
                <a:latin typeface="Segoe UI"/>
              </a:rPr>
              <a:t>Unificación de datos relacionales en PostgreSQL (Kimball Star Schema), análisis analítico en SQL y visualización ejecutiva en Power BI con simulador dinámico What-If.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E293B"/>
                </a:solidFill>
                <a:latin typeface="Segoe UI"/>
              </a:rPr>
              <a:t>•  Enfoque en Decisiones Basadas en Evidencia: </a:t>
            </a:r>
            <a:r>
              <a:rPr sz="1100">
                <a:solidFill>
                  <a:srgbClr val="64748B"/>
                </a:solidFill>
                <a:latin typeface="Segoe UI"/>
              </a:rPr>
              <a:t>Sustitución de suposiciones intuitivas por modelos cuantitativos para priorizar la retención de perfiles críticos.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WORKFORCE DYNAMIC LENS | EXECUTIVE BRIEFING</a:t>
            </a:r>
          </a:p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Diagnóstico: Los Dos Cuellos de Botella en MedTech Global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6634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E11D48"/>
                </a:solidFill>
                <a:latin typeface="Segoe UI"/>
              </a:defRPr>
            </a:pPr>
            <a:r>
              <a:t>FOCO 1: FUGA DE TALENTO CLAVE EN I+D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1E293B"/>
                </a:solidFill>
                <a:latin typeface="Segoe UI"/>
              </a:rPr>
              <a:t>• Síntoma: </a:t>
            </a:r>
            <a:r>
              <a:rPr sz="1050">
                <a:solidFill>
                  <a:srgbClr val="64748B"/>
                </a:solidFill>
                <a:latin typeface="Segoe UI"/>
              </a:rPr>
              <a:t>Renuncia imprevista de ingenieros biomédicos y desarrolladores Senior (Performance Rating &gt;= 4.0).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1E293B"/>
                </a:solidFill>
                <a:latin typeface="Segoe UI"/>
              </a:rPr>
              <a:t>• Causa Raíz Revelada: </a:t>
            </a:r>
            <a:r>
              <a:rPr sz="1050">
                <a:solidFill>
                  <a:srgbClr val="64748B"/>
                </a:solidFill>
                <a:latin typeface="Segoe UI"/>
              </a:rPr>
              <a:t>Desalineación frente a mercado (Compa-Ratio &lt; 0.85). Las entrevistas de salida registraban 'Desarrollo Profesional', enmascarando una brecha salarial del 15% al 20%.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1E293B"/>
                </a:solidFill>
                <a:latin typeface="Segoe UI"/>
              </a:rPr>
              <a:t>• Impacto en Negocio: </a:t>
            </a:r>
            <a:r>
              <a:rPr sz="1050">
                <a:solidFill>
                  <a:srgbClr val="64748B"/>
                </a:solidFill>
                <a:latin typeface="Segoe UI"/>
              </a:rPr>
              <a:t>Períodos de vacante de 60 a 90 días por alta especialización técnica requerida.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1E293B"/>
                </a:solidFill>
                <a:latin typeface="Segoe UI"/>
              </a:rPr>
              <a:t>• Consecuencia en P&amp;L: </a:t>
            </a:r>
            <a:r>
              <a:rPr sz="1050">
                <a:solidFill>
                  <a:srgbClr val="64748B"/>
                </a:solidFill>
                <a:latin typeface="Segoe UI"/>
              </a:rPr>
              <a:t>Caída del 12% en velocidad de lanzamiento de software clínico y sobrecosto por vacancia de $1.2M USD.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737360"/>
            <a:ext cx="466344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E11D48"/>
                </a:solidFill>
                <a:latin typeface="Segoe UI"/>
              </a:defRPr>
            </a:pPr>
            <a:r>
              <a:t>FOCO 2: AUSENTISMO CRÓNICO &amp; MULTAS SLA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1E293B"/>
                </a:solidFill>
                <a:latin typeface="Segoe UI"/>
              </a:rPr>
              <a:t>• Síntoma: </a:t>
            </a:r>
            <a:r>
              <a:rPr sz="1050">
                <a:solidFill>
                  <a:srgbClr val="64748B"/>
                </a:solidFill>
                <a:latin typeface="Segoe UI"/>
              </a:rPr>
              <a:t>Micro-ausencias imprevistas frecuentes de 1 a 2 días adyacentes a fines de semana y descansos en soporte 24/7.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1E293B"/>
                </a:solidFill>
                <a:latin typeface="Segoe UI"/>
              </a:rPr>
              <a:t>• Causa Raíz Revelada: </a:t>
            </a:r>
            <a:r>
              <a:rPr sz="1050">
                <a:solidFill>
                  <a:srgbClr val="64748B"/>
                </a:solidFill>
                <a:latin typeface="Segoe UI"/>
              </a:rPr>
              <a:t>Correlación directa con acumulación de más de 30 horas extra mensuales, provocando síndrome de burnout operativo.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1E293B"/>
                </a:solidFill>
                <a:latin typeface="Segoe UI"/>
              </a:rPr>
              <a:t>• Factor de Bradford: </a:t>
            </a:r>
            <a:r>
              <a:rPr sz="1050">
                <a:solidFill>
                  <a:srgbClr val="64748B"/>
                </a:solidFill>
                <a:latin typeface="Segoe UI"/>
              </a:rPr>
              <a:t>Promedio de 245 puntos en soporte técnico hospitalario (zona de severidad alta / riesgo disciplinario).</a:t>
            </a:r>
          </a:p>
          <a:p>
            <a:pPr>
              <a:spcAft>
                <a:spcPts val="800"/>
              </a:spcAft>
            </a:pPr>
            <a:r>
              <a:rPr sz="1100" b="1">
                <a:solidFill>
                  <a:srgbClr val="1E293B"/>
                </a:solidFill>
                <a:latin typeface="Segoe UI"/>
              </a:rPr>
              <a:t>• Consecuencia en P&amp;L: </a:t>
            </a:r>
            <a:r>
              <a:rPr sz="1050">
                <a:solidFill>
                  <a:srgbClr val="64748B"/>
                </a:solidFill>
                <a:latin typeface="Segoe UI"/>
              </a:rPr>
              <a:t>40 penalizaciones contractuales por incumplimiento de SLAs hospitalarios sumando $1.3M USD en multas directas.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WORKFORCE DYNAMIC LENS | EXECUTIVE BRIEFING</a:t>
            </a:r>
          </a:p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Arquitectura Técnica &amp; Modelo Dimensional en PostgreSQL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30632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284C7"/>
                </a:solidFill>
                <a:latin typeface="Segoe UI"/>
              </a:defRPr>
            </a:pPr>
            <a:r>
              <a:t>1. Almacén Relacional (Kimball Star Schema)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• Motor:</a:t>
            </a:r>
            <a:r>
              <a:rPr sz="1000">
                <a:solidFill>
                  <a:srgbClr val="64748B"/>
                </a:solidFill>
                <a:latin typeface="Segoe UI"/>
              </a:rPr>
              <a:t> PostgreSQL 16+ con esquema people_analytics.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• Dimensiones Conformadas:</a:t>
            </a:r>
            <a:r>
              <a:rPr sz="1000">
                <a:solidFill>
                  <a:srgbClr val="64748B"/>
                </a:solidFill>
                <a:latin typeface="Segoe UI"/>
              </a:rPr>
              <a:t> dim_employees (SCD Tipo 2), dim_departments, dim_positions, dim_salary_benchmarks, dim_date.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• Tablas de Hechos:</a:t>
            </a:r>
            <a:r>
              <a:rPr sz="1000">
                <a:solidFill>
                  <a:srgbClr val="64748B"/>
                </a:solidFill>
                <a:latin typeface="Segoe UI"/>
              </a:rPr>
              <a:t> fact_attendance_logs (1.51M filas), fact_terminations (1,200 bajas), fact_sla_events (40 multas).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• Integridad:</a:t>
            </a:r>
            <a:r>
              <a:rPr sz="1000">
                <a:solidFill>
                  <a:srgbClr val="64748B"/>
                </a:solidFill>
                <a:latin typeface="Segoe UI"/>
              </a:rPr>
              <a:t> 0 registros huérfanos y 100% de consistencia relacional.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146304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2856" y="1691640"/>
            <a:ext cx="30632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284C7"/>
                </a:solidFill>
                <a:latin typeface="Segoe UI"/>
              </a:defRPr>
            </a:pPr>
            <a:r>
              <a:t>2. Consultas Analíticas &amp; Vistas SQL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• Vistas Maestras:</a:t>
            </a:r>
            <a:r>
              <a:rPr sz="1000">
                <a:solidFill>
                  <a:srgbClr val="64748B"/>
                </a:solidFill>
                <a:latin typeface="Segoe UI"/>
              </a:rPr>
              <a:t> sql/analytics/13_views.sql con funciones de ventana (ROW_NUMBER, PARTITION BY).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• Cálculo Bradford Móvil:</a:t>
            </a:r>
            <a:r>
              <a:rPr sz="1000">
                <a:solidFill>
                  <a:srgbClr val="64748B"/>
                </a:solidFill>
                <a:latin typeface="Segoe UI"/>
              </a:rPr>
              <a:t> Ventana móvil de 12 meses (S^2 x D).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• Reconciliación Histórica:</a:t>
            </a:r>
            <a:r>
              <a:rPr sz="1000">
                <a:solidFill>
                  <a:srgbClr val="64748B"/>
                </a:solidFill>
                <a:latin typeface="Segoe UI"/>
              </a:rPr>
              <a:t> Filtrado estricto is_current_row = TRUE para evitar duplicaciones en headcount.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• Scoring Multifactorial:</a:t>
            </a:r>
            <a:r>
              <a:rPr sz="1000">
                <a:solidFill>
                  <a:srgbClr val="64748B"/>
                </a:solidFill>
                <a:latin typeface="Segoe UI"/>
              </a:rPr>
              <a:t> Compa-Ratio + Horas Extra + Bradford.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463040"/>
            <a:ext cx="3429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11312" y="1691640"/>
            <a:ext cx="306324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284C7"/>
                </a:solidFill>
                <a:latin typeface="Segoe UI"/>
              </a:defRPr>
            </a:pPr>
            <a:r>
              <a:t>3. Capa Semántica &amp; Business Intelligence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  <a:latin typeface="Segoe UI"/>
              </a:defRPr>
            </a:pPr>
            <a:r>
              <a:t>• Power BI Desktop conectado directamente al esquema estrella.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  <a:latin typeface="Segoe UI"/>
              </a:defRPr>
            </a:pPr>
            <a:r>
              <a:t>• Medidas DAX Dinámicas organizadas en carpetas de exhibición.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  <a:latin typeface="Segoe UI"/>
              </a:defRPr>
            </a:pPr>
            <a:r>
              <a:t>• Simulador Financiero What-If con parámetros desconectados.</a:t>
            </a:r>
          </a:p>
          <a:p>
            <a:pPr>
              <a:spcAft>
                <a:spcPts val="800"/>
              </a:spcAft>
              <a:defRPr sz="1000">
                <a:solidFill>
                  <a:srgbClr val="64748B"/>
                </a:solidFill>
                <a:latin typeface="Segoe UI"/>
              </a:defRPr>
            </a:pPr>
            <a:r>
              <a:t>• Visual Storytelling ejecutivo para toma de decisiones de C-Suite.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WORKFORCE DYNAMIC LENS | EXECUTIVE BRIEFING</a:t>
            </a:r>
          </a:p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Dashboard 1: Executive HR Overview &amp; Demographics</a:t>
            </a:r>
          </a:p>
        </p:txBody>
      </p:sp>
      <p:pic>
        <p:nvPicPr>
          <p:cNvPr id="4" name="Picture 3" descr="dashboard_01_hr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7132320" cy="379473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46720" y="1463040"/>
            <a:ext cx="341071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691640"/>
            <a:ext cx="30449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284C7"/>
                </a:solidFill>
                <a:latin typeface="Segoe UI"/>
              </a:defRPr>
            </a:pPr>
            <a:r>
              <a:t>HALLAZGOS DEMOGRÁFICOS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• Headcount Global: </a:t>
            </a:r>
            <a:r>
              <a:rPr sz="1000">
                <a:solidFill>
                  <a:srgbClr val="64748B"/>
                </a:solidFill>
                <a:latin typeface="Segoe UI"/>
              </a:rPr>
              <a:t>3,300 colaboradores activos distribuidos en México, Colombia, España, Brasil y Alemania.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• Distribución por Género: </a:t>
            </a:r>
            <a:r>
              <a:rPr sz="1000">
                <a:solidFill>
                  <a:srgbClr val="64748B"/>
                </a:solidFill>
                <a:latin typeface="Segoe UI"/>
              </a:rPr>
              <a:t>Equidad general balanceada (52% Mujeres / 48% Hombres), con brecha de representación en I+D.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• Rotación Voluntaria: </a:t>
            </a:r>
            <a:r>
              <a:rPr sz="1000">
                <a:solidFill>
                  <a:srgbClr val="64748B"/>
                </a:solidFill>
                <a:latin typeface="Segoe UI"/>
              </a:rPr>
              <a:t>Tasa anualizada del 14.8%, concentrada atípicamente en el primer y segundo año de antigüedad.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• Costo de Masa Salarial: </a:t>
            </a:r>
            <a:r>
              <a:rPr sz="1000">
                <a:solidFill>
                  <a:srgbClr val="64748B"/>
                </a:solidFill>
                <a:latin typeface="Segoe UI"/>
              </a:rPr>
              <a:t>Monitoreo continuo de nómina cargada (*Fully Loaded Payroll*) por división y centro de costos.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WORKFORCE DYNAMIC LENS | EXECUTIVE BRIEFING</a:t>
            </a:r>
          </a:p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Dashboard 2: Absenteeism Diagnostic &amp; SLA Impact</a:t>
            </a:r>
          </a:p>
        </p:txBody>
      </p:sp>
      <p:pic>
        <p:nvPicPr>
          <p:cNvPr id="4" name="Picture 3" descr="dashboard_02_absenteeism_diagnos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7132320" cy="378358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46720" y="1463040"/>
            <a:ext cx="341071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691640"/>
            <a:ext cx="30449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284C7"/>
                </a:solidFill>
                <a:latin typeface="Segoe UI"/>
              </a:defRPr>
            </a:pPr>
            <a:r>
              <a:t>DIAGNÓSTICO DE AUSENTISMO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• Factor de Bradford: </a:t>
            </a:r>
            <a:r>
              <a:rPr sz="1000">
                <a:solidFill>
                  <a:srgbClr val="64748B"/>
                </a:solidFill>
                <a:latin typeface="Segoe UI"/>
              </a:rPr>
              <a:t>Fórmula B = S^2 x D implementada dinámicamente en DAX para aislar micro-ausencias disruptivas de incapacidades médicas prolongadas.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• Sobrecarga Horaria: </a:t>
            </a:r>
            <a:r>
              <a:rPr sz="1000">
                <a:solidFill>
                  <a:srgbClr val="64748B"/>
                </a:solidFill>
                <a:latin typeface="Segoe UI"/>
              </a:rPr>
              <a:t>Colaboradores con &gt;30h extra mensuales presentan una probabilidad 3.4 veces mayor de ausentismo intermitente.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• Penalizaciones Hospitalarias: </a:t>
            </a:r>
            <a:r>
              <a:rPr sz="1000">
                <a:solidFill>
                  <a:srgbClr val="64748B"/>
                </a:solidFill>
                <a:latin typeface="Segoe UI"/>
              </a:rPr>
              <a:t>40 caídas de SLA por $1.3M USD directamente atribuidas al déficit temporal de cobertura por ausencias no planificadas.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• Acción Operativa: </a:t>
            </a:r>
            <a:r>
              <a:rPr sz="1000">
                <a:solidFill>
                  <a:srgbClr val="64748B"/>
                </a:solidFill>
                <a:latin typeface="Segoe UI"/>
              </a:rPr>
              <a:t>Establecimiento de alertas tempranas en turnos críticos al superar los 150 puntos de Bradford.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WORKFORCE DYNAMIC LENS | EXECUTIVE BRIEFING</a:t>
            </a:r>
          </a:p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Dashboard 3: Workforce Risk &amp; Retention Action Center</a:t>
            </a:r>
          </a:p>
        </p:txBody>
      </p:sp>
      <p:pic>
        <p:nvPicPr>
          <p:cNvPr id="4" name="Picture 3" descr="dashboard_03_workforce_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7132320" cy="377243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46720" y="1463040"/>
            <a:ext cx="3410712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691640"/>
            <a:ext cx="3044952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284C7"/>
                </a:solidFill>
                <a:latin typeface="Segoe UI"/>
              </a:defRPr>
            </a:pPr>
            <a:r>
              <a:t>RIESGO &amp; SIMULADOR WHAT-IF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• Matriz de Desempeño vs. Fuga: </a:t>
            </a:r>
            <a:r>
              <a:rPr sz="1000">
                <a:solidFill>
                  <a:srgbClr val="64748B"/>
                </a:solidFill>
                <a:latin typeface="Segoe UI"/>
              </a:rPr>
              <a:t>Identificación precisa de 315 Top Performers en Zona Crítica de salida involuntaria.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• Diagnóstico de Compa-Ratio: </a:t>
            </a:r>
            <a:r>
              <a:rPr sz="1000">
                <a:solidFill>
                  <a:srgbClr val="64748B"/>
                </a:solidFill>
                <a:latin typeface="Segoe UI"/>
              </a:rPr>
              <a:t>Detección de inequidad interna en I+D donde el personal clave percibe salarios bajo el 85% del punto medio del mercado.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• Simulador Financiero What-If: </a:t>
            </a:r>
            <a:r>
              <a:rPr sz="1000">
                <a:solidFill>
                  <a:srgbClr val="64748B"/>
                </a:solidFill>
                <a:latin typeface="Segoe UI"/>
              </a:rPr>
              <a:t>Cálculo en tiempo real del impacto de reducir rotación en 5%, 10% o 15% sobre el estado de resultados.</a:t>
            </a:r>
          </a:p>
          <a:p>
            <a:pPr>
              <a:spcAft>
                <a:spcPts val="800"/>
              </a:spcAft>
            </a:pPr>
            <a:r>
              <a:rPr sz="1050" b="1">
                <a:solidFill>
                  <a:srgbClr val="1E293B"/>
                </a:solidFill>
                <a:latin typeface="Segoe UI"/>
              </a:rPr>
              <a:t>• Presupuesto de Retención: </a:t>
            </a:r>
            <a:r>
              <a:rPr sz="1000">
                <a:solidFill>
                  <a:srgbClr val="64748B"/>
                </a:solidFill>
                <a:latin typeface="Segoe UI"/>
              </a:rPr>
              <a:t>Modelado del ROI de nivelación salarial frente a costo de reemplazo y vacancia.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WORKFORCE DYNAMIC LENS | EXECUTIVE BRIEFING</a:t>
            </a:r>
          </a:p>
          <a:p>
            <a:pPr>
              <a:defRPr sz="2200" b="1">
                <a:solidFill>
                  <a:srgbClr val="1E293B"/>
                </a:solidFill>
                <a:latin typeface="Segoe UI"/>
              </a:defRPr>
            </a:pPr>
            <a:r>
              <a:t>Plan Estratégico en 3 Pilares &amp; Retorno de Inversión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2900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0632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E11D48"/>
                </a:solidFill>
                <a:latin typeface="Segoe UI"/>
              </a:defRPr>
            </a:pPr>
            <a:r>
              <a:t>Pilar 1: Nivelación Salarial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Ajuste de Compa-Ratio a 1.0 para 315 Top Performers en riesgo.</a:t>
            </a:r>
          </a:p>
          <a:p>
            <a:pPr>
              <a:spcAft>
                <a:spcPts val="600"/>
              </a:spcAft>
              <a:defRPr sz="1100" b="1">
                <a:solidFill>
                  <a:srgbClr val="0284C7"/>
                </a:solidFill>
                <a:latin typeface="Segoe UI"/>
              </a:defRPr>
            </a:pPr>
            <a:r>
              <a:t>Inversión: $180,000 USD</a:t>
            </a:r>
          </a:p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Pérdidas Evitadas: $1.2M USD por reemplazo y costo de vacancia en software clínico.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6" y="1463040"/>
            <a:ext cx="342900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2856" y="1645920"/>
            <a:ext cx="30632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  <a:latin typeface="Segoe UI"/>
              </a:defRPr>
            </a:pPr>
            <a:r>
              <a:t>Pilar 2: Control de Fatiga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Tope operativo de 20 horas extra/mes en Soporte Clínico.</a:t>
            </a:r>
          </a:p>
          <a:p>
            <a:pPr>
              <a:spcAft>
                <a:spcPts val="600"/>
              </a:spcAft>
              <a:defRPr sz="1100" b="1">
                <a:solidFill>
                  <a:srgbClr val="0284C7"/>
                </a:solidFill>
                <a:latin typeface="Segoe UI"/>
              </a:defRPr>
            </a:pPr>
            <a:r>
              <a:t>Inversión: $45,000 USD</a:t>
            </a:r>
          </a:p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Impacto: Reducción del 35% en micro-ausentismo y erradicación de multas por SLA hospitalario ($1.3M).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463040"/>
            <a:ext cx="342900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11312" y="1645920"/>
            <a:ext cx="30632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Pilar 3: Alertas para HRBPs</a:t>
            </a:r>
          </a:p>
          <a:p>
            <a:pPr>
              <a:spcAft>
                <a:spcPts val="10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Protocolos de 'Stay Interviews' ante alertas tempranas de riesgo.</a:t>
            </a:r>
          </a:p>
          <a:p>
            <a:pPr>
              <a:spcAft>
                <a:spcPts val="600"/>
              </a:spcAft>
              <a:defRPr sz="1100" b="1">
                <a:solidFill>
                  <a:srgbClr val="0284C7"/>
                </a:solidFill>
                <a:latin typeface="Segoe UI"/>
              </a:defRPr>
            </a:pPr>
            <a:r>
              <a:t>Inversión: $25,000 USD</a:t>
            </a:r>
          </a:p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Impacto: Mitigación sostenida del 15% en la tasa de rotación voluntaria global.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54880"/>
            <a:ext cx="10725912" cy="15544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892040"/>
            <a:ext cx="101498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F2C811"/>
                </a:solidFill>
                <a:latin typeface="Segoe UI"/>
              </a:defRPr>
            </a:pPr>
            <a:r>
              <a:t>BALANCE FINANCIERO DEL CASO DE NEGOCIO (AÑO 1)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Inversión Total en Solución: $85,000 USD   |   Ahorro Bruto Proyectado: $540,000 USD   |   Beneficio Neto: $455,000 USD</a:t>
            </a:r>
            <a:br/>
            <a:r>
              <a:t>ROI Oficial: 535%   |   Periodo de Recuperación: 2.8 meses post-lanzamiento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2C811"/>
                </a:solidFill>
                <a:latin typeface="Segoe UI"/>
              </a:defRPr>
            </a:pPr>
            <a:r>
              <a:t>PERFIL PROFESIONAL &amp; AUTOR DEL PROYECTO</a:t>
            </a:r>
          </a:p>
          <a:p>
            <a:pPr>
              <a:spcAft>
                <a:spcPts val="400"/>
              </a:spcAft>
              <a:defRPr sz="3200" b="1">
                <a:solidFill>
                  <a:srgbClr val="FFFFFF"/>
                </a:solidFill>
                <a:latin typeface="Segoe UI"/>
              </a:defRPr>
            </a:pPr>
            <a:r>
              <a:t>Emmanuel Rodríguez Mendoza</a:t>
            </a:r>
          </a:p>
          <a:p>
            <a:pPr>
              <a:spcAft>
                <a:spcPts val="2000"/>
              </a:spcAft>
              <a:defRPr sz="1500">
                <a:solidFill>
                  <a:srgbClr val="0284C7"/>
                </a:solidFill>
                <a:latin typeface="Segoe UI"/>
              </a:defRPr>
            </a:pPr>
            <a:r>
              <a:t>HR Tech | People Analytics | BI &amp; SQL Analytics | Software Development</a:t>
            </a:r>
            <a:br/>
            <a:r>
              <a:t>Transforming Talent Management with Data, SQL &amp; Evidence-Based Decision Making</a:t>
            </a:r>
          </a:p>
          <a:p>
            <a:pPr>
              <a:spcAft>
                <a:spcPts val="2400"/>
              </a:spcAft>
              <a:defRPr sz="1200">
                <a:solidFill>
                  <a:srgbClr val="CBD5E1"/>
                </a:solidFill>
                <a:latin typeface="Segoe UI"/>
              </a:defRPr>
            </a:pPr>
            <a:r>
              <a:t>Psicólogo Organizacional y Magíster (c) en Dirección de Recursos Humanos (UDIMA, España) con formación en Análisis y Desarrollo de Software.</a:t>
            </a:r>
            <a:br/>
            <a:r>
              <a:t>Especializado en modelado relacional dimensional (Kimball Star Schema en PostgreSQL), análisis cuantitativo en SQL y visualización ejecutiva con Power BI (DAX).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2C811"/>
                </a:solidFill>
                <a:latin typeface="Segoe UI"/>
              </a:rPr>
              <a:t>LinkedIn:  </a:t>
            </a:r>
            <a:r>
              <a:rPr sz="1100">
                <a:solidFill>
                  <a:srgbClr val="FFFFFF"/>
                </a:solidFill>
                <a:latin typeface="Segoe UI"/>
              </a:rPr>
              <a:t>https://www.linkedin.com/in/emmanuel-rodríguez-mendoza-aa638a220/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2C811"/>
                </a:solidFill>
                <a:latin typeface="Segoe UI"/>
              </a:rPr>
              <a:t>GitHub:    </a:t>
            </a:r>
            <a:r>
              <a:rPr sz="1100">
                <a:solidFill>
                  <a:srgbClr val="FFFFFF"/>
                </a:solidFill>
                <a:latin typeface="Segoe UI"/>
              </a:rPr>
              <a:t>https://github.com/rodriguezmendozaemmanuel5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2C811"/>
                </a:solidFill>
                <a:latin typeface="Segoe UI"/>
              </a:rPr>
              <a:t>Email:     </a:t>
            </a:r>
            <a:r>
              <a:rPr sz="1100">
                <a:solidFill>
                  <a:srgbClr val="FFFFFF"/>
                </a:solidFill>
                <a:latin typeface="Segoe UI"/>
              </a:rPr>
              <a:t>mendozarm2308@gmail.com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F2C811"/>
                </a:solidFill>
                <a:latin typeface="Segoe UI"/>
              </a:rPr>
              <a:t>Proyecto:  </a:t>
            </a:r>
            <a:r>
              <a:rPr sz="1100">
                <a:solidFill>
                  <a:srgbClr val="FFFFFF"/>
                </a:solidFill>
                <a:latin typeface="Segoe UI"/>
              </a:rPr>
              <a:t>https://github.com/rodriguezmendozaemmanuel5/workforce-dynamic-lens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